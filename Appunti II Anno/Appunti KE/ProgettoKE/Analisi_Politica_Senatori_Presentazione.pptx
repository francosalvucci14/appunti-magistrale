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76688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76688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76688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76688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76688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69296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69296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69296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69296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69296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69296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61904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61904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61904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61904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1904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61904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954512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54512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954512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54512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954512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954512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247120" y="45720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247120" y="749808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247120" y="1042416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247120" y="1335024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247120" y="1627632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247120" y="1920240"/>
            <a:ext cx="45720" cy="4572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12700">
            <a:solidFill>
              <a:srgbClr val="141B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KNOWLEDGE ENGINEERING · LINKED OPEN DATA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24231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delle affiliazioni politiche dei Senatori della Repubblica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822960" y="39776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Estrazione, arricchimento e modellazione RDF dei dati open di dati.senato.it, con collegamento agli allineamenti politici di Wikidata (P1387)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22960" y="5074920"/>
            <a:ext cx="50292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Ontologia OSR (Senato)  ·  Estensione OWL-Senato (VocBench)  ·  rdflib · Wikidata API  ·  GraphDB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Obiettivo: estrarre, poi inferire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OSR, l'ontologia del Senato, non modella né i partiti né l'allineamento politico: i gruppi parlamentari sono semplici contenitori senza colore politico.</a:t>
            </a:r>
            <a:endParaRPr lang="en-US" sz="1450" dirty="0"/>
          </a:p>
          <a:p>
            <a:pPr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4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del progetto non è solo estrarre e riorganizzare dati già esistenti, ma dimostrare che dal grafo RDF del Senato — arricchito con una singola nuova relazione — si possono inferire e interrogare informazioni che nell'ontologia originaria semplicemente non esistevano.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61264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867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CHIAVE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4233672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collegamento gruppo → partito non è mai stato salvato come tripla RDF: è servito solo, in fase di script, a scegliere cosa cercare su Wikidata.</a:t>
            </a:r>
            <a:endParaRPr lang="en-US" sz="1300" dirty="0"/>
          </a:p>
          <a:p>
            <a:pPr indent="0" marL="0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L'unico dato realmente persistito nel grafo — e quindi realmente inferito — è 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→ allineamento politico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un'informazione assente in OSR, ricostruita a partire dai soli dati factual del Senato e da una fonte esterna.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463040"/>
            <a:ext cx="4526280" cy="470916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 PUÒ ORA INTERROGARE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239572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258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Stranieri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62672" y="2514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Senatori non nati in Italia, per allineamento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301752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662672" y="2880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Extracomunitari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62672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 fuori dall'Unione Europea, per allineamento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6393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7662672" y="3502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Rosa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62672" y="3758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di senatrici, per allineamento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426110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7662672" y="4123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per età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62672" y="4379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generazionali per schieramento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488289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662672" y="4745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/ Centro / Sud / Isole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62672" y="5001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Provenienza geografica per macroarea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550468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7662672" y="5367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62672" y="5623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 fra le dimensioni precedenti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pipeline del progetto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Ontologia di base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 (dati.senato.it)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estensione VocBench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48006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72384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9272" y="19659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75304" y="301752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Estrazione dati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75304" y="37490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results (XML)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RDF (rdflib)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75304" y="48006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43016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9904" y="19659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5936" y="301752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 politico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345936" y="37490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API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(proprietà P1387)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45936" y="48006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1364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860536" y="19659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16568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11656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16568" y="301752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Interrogazione e inferenza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16568" y="37490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SPARQL aggregate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GraphDB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16568" y="48006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produce un file RDF (.ttl) autonomo, poi combinato nel triplestore GraphDB per l'interrogazione finale.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L'ontologia di base: OSR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osr.rdf — Ontologia del Senato della Repubblica</a:t>
            </a:r>
            <a:endParaRPr lang="en-US" sz="1350" dirty="0"/>
          </a:p>
          <a:p>
            <a:pPr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3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Ontologia ufficiale pubblicata da dati.senato.it, coordinata con l'ontologia della Camera dei Deputati. Definisce namespace, classi e proprietà per rappresentare senatori, atti e attività parlamentare.</a:t>
            </a:r>
            <a:endParaRPr lang="en-US" sz="1350" dirty="0"/>
          </a:p>
          <a:p>
            <a:pPr indent="0" marL="0">
              <a:lnSpc>
                <a:spcPct val="125000"/>
              </a:lnSpc>
              <a:spcBef>
                <a:spcPts val="1000"/>
              </a:spcBef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http://dati.senato.it/osr/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 E PROPRIETÀ RIUSATE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5394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osr:Senatore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416552"/>
            <a:ext cx="5394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165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osr:Atto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901184"/>
            <a:ext cx="5394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90118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osr:Documento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385816"/>
            <a:ext cx="5394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3858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osr:sesso · osr:dataNascita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870448"/>
            <a:ext cx="5394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87044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osr:cittaNascita · provinciaNascita · nazioneNascita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554480"/>
            <a:ext cx="5166360" cy="4663440"/>
          </a:xfrm>
          <a:prstGeom prst="roundRect">
            <a:avLst>
              <a:gd name="adj" fmla="val 19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874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ESTENSIONE DEL PROGETTO · VOCBENCH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240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 http://example.com/OWL-Senato/#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12280" y="2651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 non modella gruppi parlamentari né allineamento politico: per il progetto è stato creato un namespace di estensione, con nuove classi e proprietà definite in VocBench.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2280" y="3566160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283580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3566160"/>
            <a:ext cx="3015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owl-senato:GruppoParlamentare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92563" y="3566160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4096512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283580"/>
          </a:solidFill>
          <a:ln/>
        </p:spPr>
      </p:sp>
      <p:sp>
        <p:nvSpPr>
          <p:cNvPr id="24" name="Text 22"/>
          <p:cNvSpPr/>
          <p:nvPr/>
        </p:nvSpPr>
        <p:spPr>
          <a:xfrm>
            <a:off x="6976872" y="4096512"/>
            <a:ext cx="3015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owl-senato:AllineamentoPolitico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92563" y="4096512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4626864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283580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4626864"/>
            <a:ext cx="3015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owl-senato:appartieneAGruppo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92563" y="4626864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property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5157216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283580"/>
          </a:solidFill>
          <a:ln/>
        </p:spPr>
      </p:sp>
      <p:sp>
        <p:nvSpPr>
          <p:cNvPr id="30" name="Text 28"/>
          <p:cNvSpPr/>
          <p:nvPr/>
        </p:nvSpPr>
        <p:spPr>
          <a:xfrm>
            <a:off x="6976872" y="5157216"/>
            <a:ext cx="3015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owl-senato:haAllineamentoPolitico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92563" y="5157216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property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5687568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283580"/>
          </a:solidFill>
          <a:ln/>
        </p:spPr>
      </p:sp>
      <p:sp>
        <p:nvSpPr>
          <p:cNvPr id="33" name="Text 31"/>
          <p:cNvSpPr/>
          <p:nvPr/>
        </p:nvSpPr>
        <p:spPr>
          <a:xfrm>
            <a:off x="6976872" y="5687568"/>
            <a:ext cx="3015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owl-senato:inizioAdesione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92563" y="5687568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 property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DATA EXTRACTION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 risultati SPARQL al grafo RDF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script_extraction_data.py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risultati (già interrogati su dati.senato.it) in formato SPARQL Results XML e ricostruisce un grafo RDF con rdflib, riusando le proprietà OSR e collegando ogni Senatore al proprio gruppo tramite owl-senato:appartieneAGruppo.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QUERY SPARQL GIÀ ESEGUITE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381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senatori_legislatura.xml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6758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Senatori · anagrafica + mandato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5993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14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composizione_gruppi_data.xml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525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adesioni a gruppo · carica,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73659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914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senatori_vita_carica_data.xml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Senatori a vita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1536192"/>
            <a:ext cx="498348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792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084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dati_senato.ttl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9440" y="254203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individui osr:Senatore  ·  9 owl-senato:GruppoParlamentare  ·  legami di appartenenza con carica e data di adesione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3730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MODELLATI PER SENATORE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4050792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4050792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foaf:firstName / familyName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212580" y="4050792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2308" y="4050792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osr:sesso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629400" y="4562856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4562856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osr:dataNascita (xsd:date)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212580" y="4562856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2308" y="4562856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osr:cittaNascita / provinciaNascita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629400" y="5074920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5074920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osr:nazioneNascita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212580" y="5074920"/>
            <a:ext cx="24003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2308" y="5074920"/>
            <a:ext cx="22174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osr:carica · owl-senato:inizioAdesione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MODELLO DEI DATI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grafo: Senatore → Gruppo parlamentare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osr:Senatore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foaf:firstName, familyName, sesso,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dataNascita, provinciaNascita…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23360" y="2240280"/>
            <a:ext cx="141732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2112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owl-senato:appartieneAGruppo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173736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28358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owl-senato:GruppoParlamentare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0644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osr:titolo (nome del gruppo)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69480" y="2743200"/>
            <a:ext cx="0" cy="50292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0350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(fase 2 → allineamento politico)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90525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DI ISTANZA (da dati_senato.ttl)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&lt;http://dati.senato.it/senatore/1103&gt; a osr:Senatore ;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foaf:firstName "Maurizio" ; foaf:familyName "Gasparri" ;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osr:sesso "M" ; osr:dataNascita "1956-07-18"^^xsd:date ;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osr:cittaNascita "Roma" ; osr:nazioneNascita "Italia" ;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owl-senato:appartieneAGruppo &lt;http://dati.senato.it/gruppo/56&gt; 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DATA ENRICHMENT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gruppo parlamentare all'allineamento politico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script_data_enrichment2.py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gruppi parlamentari spesso uniscono più sigle (es. “Lega Salvini Premier – Partito Sardo d'Azione”). Per ciascun gruppo si individua il partito principale presente nella denominazione, e si interroga Wikidata per recuperarne l'allineamento politico ufficiale (proprietà P1387).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gruppi unici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3419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composizione_gruppi_data.xml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" y="3584448"/>
            <a:ext cx="0" cy="219456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810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1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37627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 gruppo → partito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40005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curata manualmente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" y="4165092"/>
            <a:ext cx="0" cy="219456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wbsearchentities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4581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l'entità Wikidata del partito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" y="4745736"/>
            <a:ext cx="0" cy="219456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423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423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9240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wbgetclaims · P1387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51617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l'allineamento politico (Q-id)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0664" y="5326380"/>
            <a:ext cx="0" cy="219456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522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wbgetentities · label 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5742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il Q-id in etichetta italiana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20840" y="1508760"/>
            <a:ext cx="489204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86600" y="1828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SPECIALE · GRUPPO “MISTO”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2221992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gruppo Misto raccoglie senatori di provenienza politica eterogenea, senza un partito unico da cercare su Wikidata: non ha una voce propria interrogabile con P1387.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3108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Assegnazione manuale nel codice: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86600" y="342900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283580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34290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"Misto" → "Trasversalismo"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4160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OGNI ALLINEAMENTO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4480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gruppo → haAllineamentoPolitico → :Allineamento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86600" y="4846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:Allineamento → a → AllineamentoPolitico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86600" y="5212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:Allineamento → rdfs:label → "..."@it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RISULTATI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Allineamenti ottenuti da Wikidata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→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 di ricerca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Wikidata →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Allineamento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l'ultimo collegamento (in grassetto) diventa una tripla RDF; la colonna centrale è usata esclusivamente per la ricerca e non viene mai salvata nel grafo.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955280" cy="4023360"/>
        </p:xfrm>
        <a:graphic>
          <a:graphicData uri="http://schemas.openxmlformats.org/drawingml/2006/table">
            <a:tbl>
              <a:tblPr/>
              <a:tblGrid>
                <a:gridCol w="3383280"/>
                <a:gridCol w="22860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Gruppo parlamentare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Chiave di ricerca su Wikidata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 → persistito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Fratelli d'Italia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Fratelli d'Italia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 Salvini Premier – P.S.d'Az.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 Nord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 Italia – Berlusconi Pres. – PPE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 Italia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Centro-Destra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 Viva – Casa Riformista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 Viva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Partito Democratico – IDP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Partito Democratico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le Autonomie (SVP-PATT, Campobase)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Südtiroler Volkspartei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MoVimento 5 Stelle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Movimento 5 Stelle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Trasversalismo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(caso speciale, manuale)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Trasversalismo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1783080"/>
            <a:ext cx="2880360" cy="4023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525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GRUPPI TOTALI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52560" y="24048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905256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con allineamento assegnato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052560" y="3794760"/>
            <a:ext cx="2331720" cy="0"/>
          </a:xfrm>
          <a:prstGeom prst="line">
            <a:avLst/>
          </a:prstGeom>
          <a:noFill/>
          <a:ln w="12700">
            <a:solidFill>
              <a:srgbClr val="3B47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0" y="4023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NOTO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52560" y="4325112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gruppo (“Civici d'Italia – UDC – Noi Moderati…”) non è ancora coperto dalla mappatura manuale: denominazione composita, nessun match diretto con un partito unico.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VOCABOLARI DI SUPPORTO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Nazioni e geografia italiana per l'analisi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calcolare le percentuali richieste dalla traccia (stranieri, extracomunitari, distribuzione nord/centro/sud) servono due vocabolari di riferimento, creati appositamente e non presenti nell'ontologia OSR originaria.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Nazione.ttl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Stati membri dell'Unione Europea, come individui ex:Nazione con rdfs:label in italiano.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COSA SERVE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in Italia → cittadino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in un altro Stato UE → straniero, non extracomunitario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fuori dall'elenco → straniero extracomunitario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5623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res:Italia a ex:Nazione ; rdfs:label "Italia"@it 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55778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MacroAree-Regione.ttl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990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regioni italiane (ex:Regione), ciascuna collegata con ex:inMacroArea a una delle 5 macroaree.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703320"/>
            <a:ext cx="749808" cy="777240"/>
          </a:xfrm>
          <a:prstGeom prst="roundRect">
            <a:avLst>
              <a:gd name="adj" fmla="val 7317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Nord-occidentale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24928" y="3703320"/>
            <a:ext cx="749808" cy="777240"/>
          </a:xfrm>
          <a:prstGeom prst="roundRect">
            <a:avLst>
              <a:gd name="adj" fmla="val 7317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Nord-orientale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49056" y="3703320"/>
            <a:ext cx="749808" cy="777240"/>
          </a:xfrm>
          <a:prstGeom prst="roundRect">
            <a:avLst>
              <a:gd name="adj" fmla="val 7317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73184" y="3703320"/>
            <a:ext cx="749808" cy="777240"/>
          </a:xfrm>
          <a:prstGeom prst="roundRect">
            <a:avLst>
              <a:gd name="adj" fmla="val 7317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Meridionale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497312" y="3703320"/>
            <a:ext cx="749808" cy="777240"/>
          </a:xfrm>
          <a:prstGeom prst="roundRect">
            <a:avLst>
              <a:gd name="adj" fmla="val 7317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52176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res:Lombardia a ex:Regione ; ex:inMacroArea res:Italia_nord_occidentale 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5212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per calcolare la distribuzione geografica dei Senatori a partire da osr:provinciaNascita, raggruppando per macroarea invece che per singola provincia.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PROGETTO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grafo integrato: cosa è già collegato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.ttl prodotti convivono nello stesso triplestore (GraphDB) e condividono le stesse entità Senatore e Gruppo. Alcuni collegamenti sono già URI-based, altri sono ancora gestiti a livello di query.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2971800"/>
            <a:ext cx="2514600" cy="594360"/>
          </a:xfrm>
          <a:prstGeom prst="line">
            <a:avLst/>
          </a:prstGeom>
          <a:noFill/>
          <a:ln w="19050">
            <a:solidFill>
              <a:srgbClr val="1F7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126480" y="2971800"/>
            <a:ext cx="2468880" cy="59436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126480" y="3566160"/>
            <a:ext cx="2468880" cy="1623060"/>
          </a:xfrm>
          <a:prstGeom prst="line">
            <a:avLst/>
          </a:prstGeom>
          <a:noFill/>
          <a:ln w="19050">
            <a:solidFill>
              <a:srgbClr val="1F7A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324612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osr:Senatore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5875">
            <a:solidFill>
              <a:srgbClr val="1F7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0312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GruppoParlamentare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41401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haAllineamentoPolitico → AllineamentoPolitico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7432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collegato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0" y="201168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210312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"Italia" (Literal)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59952" y="241401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osr:nazioneNascita — confronto diretto con lista Stati 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59952" y="27432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literal + filtro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0" y="470916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5875">
            <a:solidFill>
              <a:srgbClr val="1F7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480060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provinciaNascitaURI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59952" y="511149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ex:inRegione → ex:inMacroArea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59952" y="544068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usata nelle query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2679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appartieneAGruppo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679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nazioneNascita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78040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provinciaNascitaURI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77900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9F0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77900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metodologica: per province e macroaree il grafo è già collegato via URI; per stranieri/extracomunitari le query confrontano invece il valore letterale con un elenco di Stati UE, senza passare da Nazione.ttl — una semplificazione da consolidare in futuro.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INTERROGAZIONE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pattern comune: enrichment → inferenza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6 query realizzate condividono la stessa struttura: due sotto-query SPARQL indipendenti, aggregate per gruppo/allineamento, il cui rapporto produce una percentuale. Ciò che le rende possibili è un solo pattern: il collegamento se:haAllineamentoPolitico — l'unica relazione che OSR non conteneva, inferita nella Fase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3044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Sottoquery “totale”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15568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dei Senatori per gruppo/allineamento, senza filtri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9593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941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Sottoquery “filtrata”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4187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COUNT, con un FILTER aggiuntivo (sesso, nazione, età…)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8554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55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837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5568" y="5084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unisce A e B sulle variabili condivise; si calcola B / A × 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query è quindi, di per sé, un piccolo esercizio di inferenza: combina un fatto originale del Senato (es. sesso, nazione di nascita) con un fatto derivato (l'allineamento del gruppo) per rispondere a una domanda che nessuna delle due fonti, da sola, potrebbe risolvere.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481328"/>
            <a:ext cx="5257800" cy="4937760"/>
          </a:xfrm>
          <a:prstGeom prst="roundRect">
            <a:avLst>
              <a:gd name="adj" fmla="val 1852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737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REALE · “Quota Stranieri Senato”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4617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B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(xsd:float(?countStranieri)/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B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xsd:float(?countAll) AS ?perc)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B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?orientamento ?gruppo</a:t>
            </a:r>
            <a:endParaRPr lang="en-US" sz="1000" dirty="0"/>
          </a:p>
          <a:p>
            <a:pPr indent="0" marL="0">
              <a:lnSpc>
                <a:spcPct val="118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{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SELECT ?orientamento ?gruppo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(COUNT(?s) AS ?countAll)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{ ?s a osr:Senatore 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se:appartieneAGruppo ?g .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?g osr:titolo ?gruppo 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se:haAllineamentoPolitico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?orientamento . }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?orientamento ?gruppo }</a:t>
            </a:r>
            <a:endParaRPr lang="en-US" sz="1000" dirty="0"/>
          </a:p>
          <a:p>
            <a:pPr indent="0" marL="0">
              <a:lnSpc>
                <a:spcPct val="1180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SELECT ?orientamento ?gruppo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(COUNT(?s) AS ?countStranieri)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{ … ?s osr:nazioneNascita ?n .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FILTER(?n != "Italia") }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?orientamento ?gruppo }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INTERROGAZIONE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6 interrogazioni realizzate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60520"/>
        </p:xfrm>
        <a:graphic>
          <a:graphicData uri="http://schemas.openxmlformats.org/drawingml/2006/table">
            <a:tbl>
              <a:tblPr/>
              <a:tblGrid>
                <a:gridCol w="3566160"/>
                <a:gridCol w="411480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misura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Distribuzione per Età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Età dei senatori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gruppo, età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Distribuzione Orientamento (Labeled)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senatori per area geografica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macroarea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Extracomunitari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nati fuori dall'Unione Europea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gruppo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Rosa Gruppi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senatrici per gruppo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gruppo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Rosa (Labeled)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senatrici per provincia/area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provincia, macroarea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Stranieri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nati fuori dall'Italia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Allineamento, gruppo, nazione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numerici — con i dati reali del Senato — sono mostrati dal vivo interrogando GraphDB.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21208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548640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76072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603504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21208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548640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576072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603504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521208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548640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0" y="576072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603504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21208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789920" y="548640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89920" y="576072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789920" y="603504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64240" y="521208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64240" y="548640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64240" y="576072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64240" y="6035040"/>
            <a:ext cx="41148" cy="411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1005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dati grezzi a un grafo semantico interrogabile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22960" y="1993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19110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Estesa l'ontologia OSR con classi e proprietà per gruppi e allineamento politico (VocBench)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2960" y="256032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24780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Trasformati 3 dataset SPARQL/XML in RDF nativo, riusando il vocabolario del Senato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312724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4495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Inferiti 8 collegamenti gruppo → allineamento politico su 9, tramite Wikidata (P1387) — un dato assente in OSR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22960" y="369417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675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6118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Scritte 6 query SPARQL di aggregazione che sfruttano questa inferenza per rispondere a domande demografiche e territoriali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" y="4434840"/>
            <a:ext cx="9326880" cy="0"/>
          </a:xfrm>
          <a:prstGeom prst="line">
            <a:avLst/>
          </a:prstGeom>
          <a:noFill/>
          <a:ln w="12700">
            <a:solidFill>
              <a:srgbClr val="3B47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617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49834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Sostituire il filtro hardcoded sugli Stati UE con un join reale a Nazione.ttl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540410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Coprire il gruppo "Civici d'Italia – UDC – Noi Moderati…" ancora privo di allineamento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22960" y="5824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Presentare i risultati numerici delle 6 query dal vivo, direttamente su GraphDB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affiliazioni politiche dei Senatori · dati.senato.it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2026-09-13T12:46:09Z</dcterms:created>
  <dcterms:modified xsi:type="dcterms:W3CDTF">2026-09-13T12:46:09Z</dcterms:modified>
</cp:coreProperties>
</file>